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Eka Automation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User Guide &amp; Demo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Eka Automation Application is designed to significantly reduce repetitive engineering workload through intelligent, centralized automation.</a:t>
            </a:r>
          </a:p>
          <a:p>
            <a:r>
              <a:t>Daily Image Loading - Automated, zero-touch batch processing of VS testing images replacing manual CLI operations.</a:t>
            </a:r>
          </a:p>
          <a:p>
            <a:r>
              <a:t>Batch Runs - Streamlined execution of multiple test configurations defined via YAML testbeds.</a:t>
            </a:r>
          </a:p>
          <a:p>
            <a:r>
              <a:t>Advanced Regression Testing:</a:t>
            </a:r>
          </a:p>
          <a:p>
            <a:pPr lvl="1"/>
            <a:r>
              <a:t>Parallel Execution: Run multiple SpyTest scripts simultaneously against discrete topologies.</a:t>
            </a:r>
          </a:p>
          <a:p>
            <a:pPr lvl="1"/>
            <a:r>
              <a:t>Optimized DUT Usage: The system automatically manages Device Under Test (DUT) allocation and prevents resource conflicts.</a:t>
            </a:r>
          </a:p>
          <a:p>
            <a:pPr lvl="1"/>
            <a:r>
              <a:t>Centralized Logging: Real-time streaming and storage of raw execution logs for rapid debugging and RCA.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/>
            </a:pPr>
            <a:r>
              <a:t>Total Devices Dashboard: The central control plane landing page providing an immediate pulse check on your lab infrastructure.</a:t>
            </a:r>
          </a:p>
        </p:txBody>
      </p:sp>
      <p:pic>
        <p:nvPicPr>
          <p:cNvPr id="4" name="Picture 3" descr="screensho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371600"/>
            <a:ext cx="5029200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Dashboard: Core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/>
            </a:pPr>
            <a:r>
              <a:t>4 Core Metrics:</a:t>
            </a:r>
          </a:p>
          <a:p>
            <a:pPr>
              <a:spcBef>
                <a:spcPts val="1000"/>
              </a:spcBef>
              <a:defRPr sz="1400"/>
            </a:pPr>
            <a:r>
              <a:t>Total Devices: Total sum of registered IPs/Hostnames in the application database.</a:t>
            </a:r>
          </a:p>
          <a:p>
            <a:pPr>
              <a:spcBef>
                <a:spcPts val="1000"/>
              </a:spcBef>
              <a:defRPr sz="1400"/>
            </a:pPr>
            <a:r>
              <a:t>Online: Result of the live background heartbeat ping checking node reachability.</a:t>
            </a:r>
          </a:p>
          <a:p>
            <a:pPr>
              <a:spcBef>
                <a:spcPts val="1000"/>
              </a:spcBef>
              <a:defRPr sz="1400"/>
            </a:pPr>
            <a:r>
              <a:t>Scripts: Total test case scripts discovered from the connected Git Spytest repositories.</a:t>
            </a:r>
          </a:p>
          <a:p>
            <a:pPr>
              <a:spcBef>
                <a:spcPts val="1000"/>
              </a:spcBef>
              <a:defRPr sz="1400"/>
            </a:pPr>
            <a:r>
              <a:t>Executions: Lifelong test runs triggered through the platform.</a:t>
            </a:r>
          </a:p>
        </p:txBody>
      </p:sp>
      <p:pic>
        <p:nvPicPr>
          <p:cNvPr id="4" name="Picture 3" descr="spotlight_dashboard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371600"/>
            <a:ext cx="5029200" cy="14106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/>
            </a:pPr>
            <a:r>
              <a:t>Manage the entire testing infrastructure inventory from this single pane of glass.</a:t>
            </a:r>
          </a:p>
        </p:txBody>
      </p:sp>
      <p:pic>
        <p:nvPicPr>
          <p:cNvPr id="4" name="Picture 3" descr="screenshot_de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371600"/>
            <a:ext cx="5029200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Devices: Provisioning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/>
            </a:pPr>
            <a:r>
              <a:t>Adding a New Device: This top section handles the secure ingestion of new testbed members into the database.</a:t>
            </a:r>
          </a:p>
          <a:p>
            <a:pPr>
              <a:spcBef>
                <a:spcPts val="1000"/>
              </a:spcBef>
              <a:defRPr sz="1400"/>
            </a:pPr>
            <a:r>
              <a:t>Name / IP / Port: System requires unique Device Name string. IP Validated. Port field auto-defaults to 22.</a:t>
            </a:r>
          </a:p>
          <a:p>
            <a:pPr>
              <a:spcBef>
                <a:spcPts val="1000"/>
              </a:spcBef>
              <a:defRPr sz="1400"/>
            </a:pPr>
            <a:r>
              <a:t>Credentials: Standard login parameters. Passwords encrypted at rest.</a:t>
            </a:r>
          </a:p>
          <a:p>
            <a:pPr>
              <a:spcBef>
                <a:spcPts val="1000"/>
              </a:spcBef>
              <a:defRPr sz="1400"/>
            </a:pPr>
            <a:r>
              <a:t>Type Selection Dropdown: VM (Host), DUT, or Switch/Router.</a:t>
            </a:r>
          </a:p>
        </p:txBody>
      </p:sp>
      <p:pic>
        <p:nvPicPr>
          <p:cNvPr id="4" name="Picture 3" descr="spotlight_devices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371600"/>
            <a:ext cx="5029200" cy="16344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Devices: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/>
            </a:pPr>
            <a:r>
              <a:t>Inventory &amp; Operations: The lower grid provides a comprehensive, filtered layout of the entire mapped lab topology.</a:t>
            </a:r>
          </a:p>
          <a:p>
            <a:pPr>
              <a:spcBef>
                <a:spcPts val="1000"/>
              </a:spcBef>
              <a:defRPr sz="1400"/>
            </a:pPr>
            <a:r>
              <a:t>Live Status Checks: The Status column represents the last known heartbeat. Wi-Fi icon triggers on-demand validation.</a:t>
            </a:r>
          </a:p>
          <a:p>
            <a:pPr>
              <a:spcBef>
                <a:spcPts val="1000"/>
              </a:spcBef>
              <a:defRPr sz="1400"/>
            </a:pPr>
            <a:r>
              <a:t>Decommissioning: Trash bin instantly purges records.</a:t>
            </a:r>
          </a:p>
        </p:txBody>
      </p:sp>
      <p:pic>
        <p:nvPicPr>
          <p:cNvPr id="4" name="Picture 3" descr="spotlight_devices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371600"/>
            <a:ext cx="50292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/>
            </a:pPr>
            <a:r>
              <a:t>The core engine room. Configure, map, and dispatch complex testing pipelines.</a:t>
            </a:r>
          </a:p>
        </p:txBody>
      </p:sp>
      <p:pic>
        <p:nvPicPr>
          <p:cNvPr id="4" name="Picture 3" descr="screenshot_exec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371600"/>
            <a:ext cx="5029200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Execution: Git Sync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/>
            </a:pPr>
            <a:r>
              <a:t>Host Server Selection: Bind the script to a physical host before proceeding.</a:t>
            </a:r>
          </a:p>
          <a:p>
            <a:pPr>
              <a:spcBef>
                <a:spcPts val="1000"/>
              </a:spcBef>
              <a:defRPr sz="1400"/>
            </a:pPr>
            <a:r>
              <a:t>Git Orchestration Layer: Provide Git Clone URL, Access Token, and Branch. Trigger backend worker to SSH, clone, and index scripts.</a:t>
            </a:r>
          </a:p>
        </p:txBody>
      </p:sp>
      <p:pic>
        <p:nvPicPr>
          <p:cNvPr id="4" name="Picture 3" descr="spotlight_execut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371600"/>
            <a:ext cx="5029200" cy="9671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Execution: Topologies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/>
            </a:pPr>
            <a:r>
              <a:t>Dynamic Mapping: Selected DUTs spawn as draggable interface nodes on the canvas.</a:t>
            </a:r>
          </a:p>
          <a:p>
            <a:pPr>
              <a:spcBef>
                <a:spcPts val="1000"/>
              </a:spcBef>
              <a:defRPr sz="1400"/>
            </a:pPr>
            <a:r>
              <a:t>Cable Mode Routing: Enter linking state, drag from source port to destination port to draw a physical link line, resetting as needed.</a:t>
            </a:r>
          </a:p>
        </p:txBody>
      </p:sp>
      <p:pic>
        <p:nvPicPr>
          <p:cNvPr id="4" name="Picture 3" descr="spotlight_execut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37160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Execution: Target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/>
            </a:pPr>
            <a:r>
              <a:t>Script Selection (Center Panel): Select Category to auto-fill Test Scripts. Check multiple scripts to batch regression test queue.</a:t>
            </a:r>
          </a:p>
          <a:p>
            <a:pPr>
              <a:spcBef>
                <a:spcPts val="1000"/>
              </a:spcBef>
              <a:defRPr sz="1400"/>
            </a:pPr>
            <a:r>
              <a:t>Testbed Definition (Right Panel): Select the YAML Testbed file instructing the SpyTest engine on layout.</a:t>
            </a:r>
          </a:p>
        </p:txBody>
      </p:sp>
      <p:pic>
        <p:nvPicPr>
          <p:cNvPr id="4" name="Picture 3" descr="spotlight_execut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371600"/>
            <a:ext cx="5029200" cy="572288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VS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/>
            </a:pPr>
            <a:r>
              <a:t>Automates the painful process of updating firmware images across massive virtual simulation banks.</a:t>
            </a:r>
          </a:p>
        </p:txBody>
      </p:sp>
      <p:pic>
        <p:nvPicPr>
          <p:cNvPr id="4" name="Picture 3" descr="screenshot_v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371600"/>
            <a:ext cx="5029200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VS Manager: Update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/>
            </a:pPr>
            <a:r>
              <a:t>Discovery &amp; Targeting: Queries the host server and spins up a list of all active Virtual Machines detected. Select VMs.</a:t>
            </a:r>
          </a:p>
          <a:p>
            <a:pPr>
              <a:spcBef>
                <a:spcPts val="1000"/>
              </a:spcBef>
              <a:defRPr sz="1400"/>
            </a:pPr>
            <a:r>
              <a:t>Update Lifecycle Workflow: Enter the absolute file path to the fresh image, and the system halts, copies, and re-initializes the VMs securely.</a:t>
            </a:r>
          </a:p>
        </p:txBody>
      </p:sp>
      <p:pic>
        <p:nvPicPr>
          <p:cNvPr id="4" name="Picture 3" descr="spotlight_vs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371600"/>
            <a:ext cx="5029200" cy="456136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/>
            </a:pPr>
            <a:r>
              <a:t>The permanent system-of-record for every automated event in the platform.</a:t>
            </a:r>
          </a:p>
        </p:txBody>
      </p:sp>
      <p:pic>
        <p:nvPicPr>
          <p:cNvPr id="4" name="Picture 3" descr="screenshot_lo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371600"/>
            <a:ext cx="5029200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Logs: Forensic Inspection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/>
            </a:pPr>
            <a:r>
              <a:t>Execution History Matrix: Grid of iterations tracking duration, targets, timestamps, and pass/fail outcomes.</a:t>
            </a:r>
          </a:p>
          <a:p>
            <a:pPr>
              <a:spcBef>
                <a:spcPts val="1000"/>
              </a:spcBef>
              <a:defRPr sz="1400"/>
            </a:pPr>
            <a:r>
              <a:t>Deep Dive Inspection: Clicking a row pulls the raw console output trace for Engineering RCA.</a:t>
            </a:r>
          </a:p>
          <a:p>
            <a:pPr>
              <a:spcBef>
                <a:spcPts val="1000"/>
              </a:spcBef>
              <a:defRPr sz="1400"/>
            </a:pPr>
            <a:r>
              <a:t>Export Utility: Download packages the raw logs safely for Jira/Emails.</a:t>
            </a:r>
          </a:p>
        </p:txBody>
      </p:sp>
      <p:pic>
        <p:nvPicPr>
          <p:cNvPr id="4" name="Picture 3" descr="spotlight_logs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371600"/>
            <a:ext cx="5029200" cy="220794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Terminal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/>
            </a:pPr>
            <a:r>
              <a:t>Integrated Remote bash Web CLI bridges the gap without breaking workflow.</a:t>
            </a:r>
          </a:p>
        </p:txBody>
      </p:sp>
      <p:pic>
        <p:nvPicPr>
          <p:cNvPr id="4" name="Picture 3" descr="screenshot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371600"/>
            <a:ext cx="5029200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Terminal: Direct Dispatch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/>
            </a:pPr>
            <a:r>
              <a:t>Direct Routing: Select target device to asynchronously broker a direct SSH tunnel.</a:t>
            </a:r>
          </a:p>
          <a:p>
            <a:pPr>
              <a:spcBef>
                <a:spcPts val="1000"/>
              </a:spcBef>
              <a:defRPr sz="1400"/>
            </a:pPr>
            <a:r>
              <a:t>Command Dispatch: Type raw shell statements (ifconfig, show run). Pipeline returns near instantaneous results verifying switch state.</a:t>
            </a:r>
          </a:p>
        </p:txBody>
      </p:sp>
      <p:pic>
        <p:nvPicPr>
          <p:cNvPr id="4" name="Picture 3" descr="spotlight_term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371600"/>
            <a:ext cx="5029200" cy="1005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